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484f63f95436f" /><Relationship Type="http://schemas.openxmlformats.org/officeDocument/2006/relationships/extended-properties" Target="/docProps/app.xml" Id="R82c4551c9e524dd8" /><Relationship Type="http://schemas.openxmlformats.org/officeDocument/2006/relationships/officeDocument" Target="/ppt/presentation.xml" Id="R23fb42a34e114a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f53a4365d540f1"/>
  </p:sldMasterIdLst>
  <p:notesMasterIdLst>
    <p:notesMasterId xmlns:r="http://schemas.openxmlformats.org/officeDocument/2006/relationships" r:id="R840297483a0a4e88"/>
  </p:notesMasterIdLst>
  <p:sldIdLst>
    <p:sldId xmlns:r="http://schemas.openxmlformats.org/officeDocument/2006/relationships" id="256" r:id="R40595042cdfd4c33"/>
    <p:sldId xmlns:r="http://schemas.openxmlformats.org/officeDocument/2006/relationships" id="257" r:id="Re8e693ac4c0a4431"/>
    <p:sldId xmlns:r="http://schemas.openxmlformats.org/officeDocument/2006/relationships" id="258" r:id="Refb222d893494b9d"/>
    <p:sldId xmlns:r="http://schemas.openxmlformats.org/officeDocument/2006/relationships" id="259" r:id="R3f216d13bfdd44ea"/>
    <p:sldId xmlns:r="http://schemas.openxmlformats.org/officeDocument/2006/relationships" id="260" r:id="R9a87ccff8f1f4551"/>
    <p:sldId xmlns:r="http://schemas.openxmlformats.org/officeDocument/2006/relationships" id="261" r:id="Ra2997ddf96cd4107"/>
    <p:sldId xmlns:r="http://schemas.openxmlformats.org/officeDocument/2006/relationships" id="262" r:id="R42e50cff521a49e3"/>
    <p:sldId xmlns:r="http://schemas.openxmlformats.org/officeDocument/2006/relationships" id="263" r:id="R400cbd1b7bdd49b5"/>
    <p:sldId xmlns:r="http://schemas.openxmlformats.org/officeDocument/2006/relationships" id="264" r:id="R6270fbc2feda4e22"/>
    <p:sldId xmlns:r="http://schemas.openxmlformats.org/officeDocument/2006/relationships" id="265" r:id="R3e2115ebf5f742ac"/>
    <p:sldId xmlns:r="http://schemas.openxmlformats.org/officeDocument/2006/relationships" id="266" r:id="R8ce81d146c8b40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ad7fd77284d0f" /><Relationship Type="http://schemas.openxmlformats.org/officeDocument/2006/relationships/slideMaster" Target="/ppt/slideMasters/slideMaster1.xml" Id="Rcff53a4365d540f1" /><Relationship Type="http://schemas.openxmlformats.org/officeDocument/2006/relationships/notesMaster" Target="/ppt/notesMasters/notesMaster1.xml" Id="R840297483a0a4e88" /><Relationship Type="http://schemas.openxmlformats.org/officeDocument/2006/relationships/presProps" Target="/ppt/presProps.xml" Id="R33fc7b5077b24cc2" /><Relationship Type="http://schemas.openxmlformats.org/officeDocument/2006/relationships/tableStyles" Target="/ppt/tableStyles.xml" Id="R7c7b7f5c191149eb" /><Relationship Type="http://schemas.openxmlformats.org/officeDocument/2006/relationships/slide" Target="/ppt/slides/slide1.xml" Id="R40595042cdfd4c33" /><Relationship Type="http://schemas.openxmlformats.org/officeDocument/2006/relationships/slide" Target="/ppt/slides/slide2.xml" Id="Re8e693ac4c0a4431" /><Relationship Type="http://schemas.openxmlformats.org/officeDocument/2006/relationships/slide" Target="/ppt/slides/slide3.xml" Id="Refb222d893494b9d" /><Relationship Type="http://schemas.openxmlformats.org/officeDocument/2006/relationships/slide" Target="/ppt/slides/slide4.xml" Id="R3f216d13bfdd44ea" /><Relationship Type="http://schemas.openxmlformats.org/officeDocument/2006/relationships/slide" Target="/ppt/slides/slide5.xml" Id="R9a87ccff8f1f4551" /><Relationship Type="http://schemas.openxmlformats.org/officeDocument/2006/relationships/slide" Target="/ppt/slides/slide6.xml" Id="Ra2997ddf96cd4107" /><Relationship Type="http://schemas.openxmlformats.org/officeDocument/2006/relationships/slide" Target="/ppt/slides/slide7.xml" Id="R42e50cff521a49e3" /><Relationship Type="http://schemas.openxmlformats.org/officeDocument/2006/relationships/slide" Target="/ppt/slides/slide8.xml" Id="R400cbd1b7bdd49b5" /><Relationship Type="http://schemas.openxmlformats.org/officeDocument/2006/relationships/slide" Target="/ppt/slides/slide9.xml" Id="R6270fbc2feda4e22" /><Relationship Type="http://schemas.openxmlformats.org/officeDocument/2006/relationships/slide" Target="/ppt/slides/slide10.xml" Id="R3e2115ebf5f742ac" /><Relationship Type="http://schemas.openxmlformats.org/officeDocument/2006/relationships/slide" Target="/ppt/slides/slide11.xml" Id="R8ce81d146c8b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15da223b6c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62b0e3b9e472f" /><Relationship Type="http://schemas.openxmlformats.org/officeDocument/2006/relationships/notesMaster" Target="/ppt/notesMasters/notesMaster1.xml" Id="R123486ec8c8e47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c117a465b44f24" /><Relationship Type="http://schemas.openxmlformats.org/officeDocument/2006/relationships/notesMaster" Target="/ppt/notesMasters/notesMaster1.xml" Id="R81c2c102cd34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a4ed6c3902488b" /><Relationship Type="http://schemas.openxmlformats.org/officeDocument/2006/relationships/notesMaster" Target="/ppt/notesMasters/notesMaster1.xml" Id="R0f7e8f27f71845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98dc36d7e24d54" /><Relationship Type="http://schemas.openxmlformats.org/officeDocument/2006/relationships/notesMaster" Target="/ppt/notesMasters/notesMaster1.xml" Id="Rddf525f668e2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63557cc79c479e" /><Relationship Type="http://schemas.openxmlformats.org/officeDocument/2006/relationships/notesMaster" Target="/ppt/notesMasters/notesMaster1.xml" Id="R495c0230cc2940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df24a2f7cd42bb" /><Relationship Type="http://schemas.openxmlformats.org/officeDocument/2006/relationships/notesMaster" Target="/ppt/notesMasters/notesMaster1.xml" Id="Rf6449f8acf8047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4ce03b0b824310" /><Relationship Type="http://schemas.openxmlformats.org/officeDocument/2006/relationships/notesMaster" Target="/ppt/notesMasters/notesMaster1.xml" Id="Rd8f3d0aac30d4a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f02f80677947d6" /><Relationship Type="http://schemas.openxmlformats.org/officeDocument/2006/relationships/notesMaster" Target="/ppt/notesMasters/notesMaster1.xml" Id="R750ac07a049e48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8cd755790c45a6" /><Relationship Type="http://schemas.openxmlformats.org/officeDocument/2006/relationships/notesMaster" Target="/ppt/notesMasters/notesMaster1.xml" Id="R682e1abe412e44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3fc8dcd0ac4580" /><Relationship Type="http://schemas.openxmlformats.org/officeDocument/2006/relationships/notesMaster" Target="/ppt/notesMasters/notesMaster1.xml" Id="Rb9e841832a9148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82a3b1252843ee" /><Relationship Type="http://schemas.openxmlformats.org/officeDocument/2006/relationships/notesMaster" Target="/ppt/notesMasters/notesMaster1.xml" Id="R0315983b8ca9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d235dc7cb40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1eee49f41434c" /><Relationship Type="http://schemas.openxmlformats.org/officeDocument/2006/relationships/slideLayout" Target="/ppt/slideLayouts/slideLayout1.xml" Id="R1327d150b33b4e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7d150b33b4e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9537903e049aa" /><Relationship Type="http://schemas.openxmlformats.org/officeDocument/2006/relationships/image" Target="/ppt/media/image.jpeg" Id="R38d0463c37514ca0" /><Relationship Type="http://schemas.openxmlformats.org/officeDocument/2006/relationships/image" Target="/ppt/media/image.png" Id="Rce4a271a29764ce6" /><Relationship Type="http://schemas.openxmlformats.org/officeDocument/2006/relationships/notesSlide" Target="/ppt/notesSlides/notesSlide1.xml" Id="Re7d136e8a6034b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a0b72a30b4192" /><Relationship Type="http://schemas.openxmlformats.org/officeDocument/2006/relationships/image" Target="/ppt/media/image2.jpeg" Id="Rf8773b0a9559414f" /><Relationship Type="http://schemas.openxmlformats.org/officeDocument/2006/relationships/notesSlide" Target="/ppt/notesSlides/notesSlide2.xml" Id="Rc6ae633633ea42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f1b0f2f9e4a93" /><Relationship Type="http://schemas.openxmlformats.org/officeDocument/2006/relationships/image" Target="/ppt/media/image3.jpeg" Id="R3b3904b9951949be" /><Relationship Type="http://schemas.openxmlformats.org/officeDocument/2006/relationships/image" Target="/ppt/media/image4.jpeg" Id="R52d99d91ec894f37" /><Relationship Type="http://schemas.openxmlformats.org/officeDocument/2006/relationships/notesSlide" Target="/ppt/notesSlides/notesSlide3.xml" Id="R93ed916f3d004c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2b20dff046be" /><Relationship Type="http://schemas.openxmlformats.org/officeDocument/2006/relationships/image" Target="/ppt/media/image5.jpeg" Id="Rc04c392c91754be6" /><Relationship Type="http://schemas.openxmlformats.org/officeDocument/2006/relationships/image" Target="/ppt/media/image6.jpeg" Id="Ra5194f6f04824c0e" /><Relationship Type="http://schemas.openxmlformats.org/officeDocument/2006/relationships/notesSlide" Target="/ppt/notesSlides/notesSlide4.xml" Id="R3651fe52ebf7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61299615a490d" /><Relationship Type="http://schemas.openxmlformats.org/officeDocument/2006/relationships/image" Target="/ppt/media/image7.jpeg" Id="Rfe793d8906d74863" /><Relationship Type="http://schemas.openxmlformats.org/officeDocument/2006/relationships/image" Target="/ppt/media/image8.jpeg" Id="R6a05f9fa79464bca" /><Relationship Type="http://schemas.openxmlformats.org/officeDocument/2006/relationships/image" Target="/ppt/media/image9.jpeg" Id="R72d0d918d39740c5" /><Relationship Type="http://schemas.openxmlformats.org/officeDocument/2006/relationships/notesSlide" Target="/ppt/notesSlides/notesSlide5.xml" Id="R68d0ba1611b9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26de218848ce" /><Relationship Type="http://schemas.openxmlformats.org/officeDocument/2006/relationships/image" Target="/ppt/media/image10.jpeg" Id="R6892510ca32c4815" /><Relationship Type="http://schemas.openxmlformats.org/officeDocument/2006/relationships/image" Target="/ppt/media/image11.jpeg" Id="R60dffb94bafd418f" /><Relationship Type="http://schemas.openxmlformats.org/officeDocument/2006/relationships/notesSlide" Target="/ppt/notesSlides/notesSlide6.xml" Id="Rd4005714516c48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5f4efab91445e" /><Relationship Type="http://schemas.openxmlformats.org/officeDocument/2006/relationships/image" Target="/ppt/media/image12.jpeg" Id="R3250b85c91e54ebe" /><Relationship Type="http://schemas.openxmlformats.org/officeDocument/2006/relationships/image" Target="/ppt/media/image13.jpeg" Id="R9e1ffd5b90144d7a" /><Relationship Type="http://schemas.openxmlformats.org/officeDocument/2006/relationships/notesSlide" Target="/ppt/notesSlides/notesSlide7.xml" Id="R85a5fbdc11294c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188459f54208" /><Relationship Type="http://schemas.openxmlformats.org/officeDocument/2006/relationships/notesSlide" Target="/ppt/notesSlides/notesSlide8.xml" Id="R91222bd1fd0b42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00daba76f4202" /><Relationship Type="http://schemas.openxmlformats.org/officeDocument/2006/relationships/notesSlide" Target="/ppt/notesSlides/notesSlide9.xml" Id="Ra612bea7df5744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d6f9558fa433f" /><Relationship Type="http://schemas.openxmlformats.org/officeDocument/2006/relationships/notesSlide" Target="/ppt/notesSlides/notesSlide10.xml" Id="Rd2c6409f839e41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5ffb2b1684db6" /><Relationship Type="http://schemas.openxmlformats.org/officeDocument/2006/relationships/image" Target="/ppt/media/image14.jpeg" Id="Rfb6973a242594a9c" /><Relationship Type="http://schemas.openxmlformats.org/officeDocument/2006/relationships/image" Target="/ppt/media/image2.png" Id="Rdd56d4cb826f4d9d" /><Relationship Type="http://schemas.openxmlformats.org/officeDocument/2006/relationships/notesSlide" Target="/ppt/notesSlides/notesSlide11.xml" Id="R8c8b24c2dc244a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0463c37514ca0"/>
          <a:srcRect xmlns:a="http://schemas.openxmlformats.org/drawingml/2006/main" l="23438" t="0" r="234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AA2E-8A2F-40F6-91E3-7987127E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a271a29764ce6"/>
          <a:stretch xmlns:a="http://schemas.openxmlformats.org/drawingml/2006/main"/>
        </p:blipFill>
        <p:spPr>
          <a:xfrm xmlns:a="http://schemas.openxmlformats.org/drawingml/2006/main">
            <a:off x="1209675" y="42862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0DD7A-E8D3-4EE2-A51A-557A7E61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514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AE8D2-65BB-4542-A91C-023B9C8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IMPLEMENTED • AWAITING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5CA37-A9D5-4BB1-9A2A-2391573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AMCHAM Tanzania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Digital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DC0C4-113C-4C13-ACB3-868FBF14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B35B"/>
                </a:solidFill>
              </a:defRPr>
            </a:pPr>
            <a:r>
              <a:rPr sz="1800" b="1">
                <a:solidFill>
                  <a:srgbClr val="D5B35B"/>
                </a:solidFill>
              </a:rPr>
              <a:t>Website proposal and implementation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2CCF4-23AB-4BA6-BE1B-5F3C47BD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FE9"/>
                </a:solidFill>
              </a:defRPr>
            </a:pPr>
            <a:r>
              <a:rPr sz="1425" b="0">
                <a:solidFill>
                  <a:srgbClr val="D8DFE9"/>
                </a:solidFill>
              </a:rPr>
              <a:t>A modern public website, member workspace and Secretariat command centre—built as one connected platform and ready to be hosted after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DB4E0-A024-4335-972D-477D0090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C9"/>
                </a:solidFill>
              </a:defRPr>
            </a:pPr>
            <a:r>
              <a:rPr sz="975" b="1">
                <a:solidFill>
                  <a:srgbClr val="AEB9C9"/>
                </a:solidFill>
              </a:rPr>
              <a:t>Prepared for AMCHAM Tanzania  •  July 2026</a:t>
            </a:r>
          </a:p>
        </p:txBody>
      </p:sp>
    </p:spTree>
    <p:extLst>
      <p:ext uri="{BB962C8B-B14F-4D97-AF65-F5344CB8AC3E}">
        <p14:creationId xmlns:p14="http://schemas.microsoft.com/office/powerpoint/2010/main" val="1029797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830A0-3C93-4823-9199-2ADB6B3C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01E86-C92C-4EE4-B201-441C3F2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B306A-91CD-4A3C-84BF-1730A31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8AF70-DC13-4EAF-96C7-535A0CE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THE PROPOSITION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2E728-61EB-4797-9507-79269894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Not a concept. A working implementation.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DB23F-E80A-4DC8-8418-9C217196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33600"/>
            <a:ext cx="4953000" cy="3019425"/>
          </a:xfrm>
          <a:prstGeom xmlns:a="http://schemas.openxmlformats.org/drawingml/2006/main" prst="roundRect">
            <a:avLst>
              <a:gd name="adj" fmla="val 3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6260C-FF4F-4993-9F15-7C45FBE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857750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8776-DC1D-4932-AA7C-864E027E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2D10B-5F90-4362-A959-6217E5E8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43BFA-E69C-4F31-B92E-0ADC47B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73b0a9559414f"/>
          <a:srcRect xmlns:a="http://schemas.openxmlformats.org/drawingml/2006/main" l="0" t="153" r="0" b="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81250"/>
            <a:ext cx="4857750" cy="2724150"/>
          </a:xfrm>
          <a:prstGeom xmlns:a="http://schemas.openxmlformats.org/drawingml/2006/main" prst="roundRect">
            <a:avLst>
              <a:gd name="adj" fmla="val 244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43C72-AC20-4317-BD43-927F376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47900"/>
            <a:ext cx="52387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59995-BEBA-490D-B52A-925D247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193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E3D"/>
                </a:solidFill>
              </a:defRPr>
            </a:pPr>
            <a:r>
              <a:rPr sz="1875" b="1">
                <a:solidFill>
                  <a:srgbClr val="C92E3D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270B9-133F-4DD3-A31B-B83E4A1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00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A"/>
                </a:solidFill>
              </a:defRPr>
            </a:pPr>
            <a:r>
              <a:rPr sz="1500" b="1">
                <a:solidFill>
                  <a:srgbClr val="15223A"/>
                </a:solidFill>
              </a:rPr>
              <a:t>Public experience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CFBEF-7A75-45DC-A682-EF1DC79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5"/>
                </a:solidFill>
              </a:defRPr>
            </a:pPr>
            <a:r>
              <a:rPr sz="1125" b="0">
                <a:solidFill>
                  <a:srgbClr val="657085"/>
                </a:solidFill>
              </a:rPr>
              <a:t>Responsive pages for membership, events, news, resources, galleries and company discovery.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8BE9-B856-4E96-B94C-6DCB57C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95650"/>
            <a:ext cx="52387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CC6CE-5250-4CE2-8698-4D85E3A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67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E3D"/>
                </a:solidFill>
              </a:defRPr>
            </a:pPr>
            <a:r>
              <a:rPr sz="1875" b="1">
                <a:solidFill>
                  <a:srgbClr val="C92E3D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E1866-36C6-43EC-96A6-1151521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480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A"/>
                </a:solidFill>
              </a:defRPr>
            </a:pPr>
            <a:r>
              <a:rPr sz="1500" b="1">
                <a:solidFill>
                  <a:srgbClr val="15223A"/>
                </a:solidFill>
              </a:rPr>
              <a:t>Member self-service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DAF8B-28CB-484E-A8AC-4BCB8BF4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957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5"/>
                </a:solidFill>
              </a:defRPr>
            </a:pPr>
            <a:r>
              <a:rPr sz="1125" b="0">
                <a:solidFill>
                  <a:srgbClr val="657085"/>
                </a:solidFill>
              </a:rPr>
              <a:t>A secure company workspace for profiles, submissions and documents.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3FDC9-EFAA-42B5-976C-FF28E03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43400"/>
            <a:ext cx="52387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FF7F8-1CDC-4B74-B456-D310752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1485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E3D"/>
                </a:solidFill>
              </a:defRPr>
            </a:pPr>
            <a:r>
              <a:rPr sz="1875" b="1">
                <a:solidFill>
                  <a:srgbClr val="C92E3D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C2752-9397-475A-BAFC-341924E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958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A"/>
                </a:solidFill>
              </a:defRPr>
            </a:pPr>
            <a:r>
              <a:rPr sz="1500" b="1">
                <a:solidFill>
                  <a:srgbClr val="15223A"/>
                </a:solidFill>
              </a:rPr>
              <a:t>Secretariat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DC00E-0D9D-407D-AED0-36AC741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434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5"/>
                </a:solidFill>
              </a:defRPr>
            </a:pPr>
            <a:r>
              <a:rPr sz="1125" b="0">
                <a:solidFill>
                  <a:srgbClr val="657085"/>
                </a:solidFill>
              </a:rPr>
              <a:t>Publishing, approvals, uploads and member operations from one administration hub.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D8AAE-B008-478C-B71E-26D396BB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Every screen shown was captured from the completed working build, currently awaiting approval and hosting.</a:t>
            </a:r>
          </a:p>
        </p:txBody>
      </p:sp>
    </p:spTree>
    <p:extLst>
      <p:ext uri="{BB962C8B-B14F-4D97-AF65-F5344CB8AC3E}">
        <p14:creationId xmlns:p14="http://schemas.microsoft.com/office/powerpoint/2010/main" val="120609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3DD6F-4326-4D99-9BB2-28EFF1B5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809F-3009-466A-9DB7-81152F2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DF54F-03B9-49D7-B550-84342BC4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482E-956D-418E-A1B4-83FA168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PUBLIC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13F9D-C0F0-4694-AD97-8FD62FC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A confident front door for trade and membership.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F3EA2-3124-4338-A4CA-424DD440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5"/>
                </a:solidFill>
              </a:defRPr>
            </a:pPr>
            <a:r>
              <a:rPr sz="1350" b="0">
                <a:solidFill>
                  <a:srgbClr val="657085"/>
                </a:solidFill>
              </a:rPr>
              <a:t>Clear navigation turns AMCHAM’s value into visible pathways: discover, participate, join and return.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23298-DC52-4997-B372-7BDE7E91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57475"/>
            <a:ext cx="5381625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074CD-7081-47E5-9378-785608C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863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EAB01-99E9-434E-A2C2-5FC9442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71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2C4CD-AA45-4975-8B74-65AE1A39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F2F14-EC51-4495-B440-75576FF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71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904b9951949be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905125"/>
            <a:ext cx="5286375" cy="2971800"/>
          </a:xfrm>
          <a:prstGeom xmlns:a="http://schemas.openxmlformats.org/drawingml/2006/main" prst="roundRect">
            <a:avLst>
              <a:gd name="adj" fmla="val 224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CA7A4-D65E-468A-BC73-CEB20EC1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52675"/>
            <a:ext cx="49149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3B40F-A823-4517-99EF-419EFC96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819650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17114-C1CC-489A-B258-2D088BDC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4AB6F-0717-46EE-B111-378B9E3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D7A9E-9336-4676-AB2B-FC55AD96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9d91ec894f37"/>
          <a:srcRect xmlns:a="http://schemas.openxmlformats.org/drawingml/2006/main" l="0" t="110" r="0" b="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2600325"/>
            <a:ext cx="4819650" cy="2705100"/>
          </a:xfrm>
          <a:prstGeom xmlns:a="http://schemas.openxmlformats.org/drawingml/2006/main" prst="roundRect">
            <a:avLst>
              <a:gd name="adj" fmla="val 246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F758B-65CB-4FC3-929A-31D44456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BBE43-9B8A-47C6-8308-B7A3B21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HOMEPAGE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8DEF5-B88B-4187-B7AF-BB0F227E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D716C-62E3-4A76-A50B-A2749436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6480E-A88E-4F06-AE86-BFB81E46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Responsive layouts • Strong calls to action • Editorial storytelling • Clear member access</a:t>
            </a:r>
          </a:p>
        </p:txBody>
      </p:sp>
    </p:spTree>
    <p:extLst>
      <p:ext uri="{BB962C8B-B14F-4D97-AF65-F5344CB8AC3E}">
        <p14:creationId xmlns:p14="http://schemas.microsoft.com/office/powerpoint/2010/main" val="1392980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DD5FC-15A6-478C-BDE7-2FF56A1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B2534-2106-4047-A37F-A051F986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0CABA-0B27-414C-9BEB-5564651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2D0"/>
                </a:solidFill>
              </a:defRPr>
            </a:pPr>
            <a:r>
              <a:rPr sz="900" b="1">
                <a:solidFill>
                  <a:srgbClr val="B9C2D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73245-8C5B-4B58-BDF8-B45A38DC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B35B"/>
                </a:solidFill>
              </a:defRPr>
            </a:pPr>
            <a:r>
              <a:rPr sz="975" b="1">
                <a:solidFill>
                  <a:srgbClr val="D5B35B"/>
                </a:solidFill>
              </a:rPr>
              <a:t>MEMBERSHIP GROWTH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90C0-5383-4E15-A822-6B8D530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Membership becomes a guided digital journey.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92163-E5A5-40BD-8039-04A3BE9E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E"/>
                </a:solidFill>
              </a:defRPr>
            </a:pPr>
            <a:r>
              <a:rPr sz="1350" b="0">
                <a:solidFill>
                  <a:srgbClr val="C7D0DE"/>
                </a:solidFill>
              </a:rPr>
              <a:t>Prospects can understand the proposition, explore the network and move directly toward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E17E5-CECA-4408-96F0-B04881A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57500"/>
            <a:ext cx="5191125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C82A1-9EEC-4636-9698-62BE628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0958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9162-7FB4-45CF-BB8B-0A80EDF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1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E6861-25D8-4AB6-A8AB-B19C493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FAE14-997F-41B3-8139-570722E3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c392c91754be6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05150"/>
            <a:ext cx="5095875" cy="2867025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48926-0056-45A0-AE09-73D7AD01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5191125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E2C8-C3AD-4759-84E7-165B7140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50958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B55CD-3C77-433F-ACD7-5235EFB7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71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4A6AB-DAC9-4AFD-B74D-26D66DD6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24E9F-6738-4AA7-AD58-A15BC9FE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71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94f6f04824c0e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105150"/>
            <a:ext cx="5095875" cy="2867025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AD7D7-5096-4562-B582-33348E1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190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D2C12-C4A7-45A7-8609-AF789604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483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JOIN AMCHAM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87053-74D6-439A-897E-8D15761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388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55208-712E-484F-8A44-4C08366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483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MEMBER DIRECTORY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19034-1532-4ABD-960D-1E82294F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1"/>
                </a:solidFill>
              </a:defRPr>
            </a:pPr>
            <a:r>
              <a:rPr sz="825" b="0">
                <a:solidFill>
                  <a:srgbClr val="B8C2D1"/>
                </a:solidFill>
              </a:rPr>
              <a:t>A clearer value story supports recruitment while the directory demonstrates the strength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918694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6FB00A-094E-401D-8714-91EABF1C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73D6F-8637-4F16-B906-989779DE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EDDF2-3C5B-4D9C-AA38-2BA50F93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73656-C240-472F-A6A7-FA8A63C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CONTENT AND ENGAGEMENT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D6910-4E42-47D6-9797-977C4B4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Events and publications stay visible—and current.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2E7EB-1272-4336-B596-99178E74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52675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EB194-A566-4D74-9A3C-7FC17EF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33750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AFB14-B9DD-40DD-93FA-B66D79E5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8C18A-872D-4374-BE5C-89EFBA1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C1801-5BD5-4DD1-92A8-B58CB32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93d8906d74863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00325"/>
            <a:ext cx="3333750" cy="1876425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F1CDC-DAB3-41B4-AFAB-A337053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85F0C-B71F-462E-AA62-DE4D15D2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49AF6-2C45-49EB-A8D3-D01E16CA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4725F-F57E-45B1-8624-0D55EC4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77F5B-B3E6-432D-941D-6039FAC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5f9fa79464bca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600325"/>
            <a:ext cx="3333750" cy="1876425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71C8B-0379-403E-958B-5124E65E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52675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459D5-AA2E-4DCD-B93D-FD59D856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333750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4C709-A9E0-4E54-B3C8-736067E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E8628-B82A-4A8E-B6A2-5CE49DD6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EA573-9B66-495F-A944-CCD6BF1D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0d918d39740c5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600325"/>
            <a:ext cx="3333750" cy="1876425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F7510-E47E-46A5-980B-0B3CEF9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A"/>
                </a:solidFill>
              </a:defRPr>
            </a:pPr>
            <a:r>
              <a:rPr sz="1275" b="1">
                <a:solidFill>
                  <a:srgbClr val="15223A"/>
                </a:solidFill>
              </a:rPr>
              <a:t>NEWS &amp; INSIGHTS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20F07-8638-458E-9F84-D0F176C5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Publish analysis, updates and member stories.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CBA56-2322-4A2A-AC4E-E4347D57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57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A"/>
                </a:solidFill>
              </a:defRPr>
            </a:pPr>
            <a:r>
              <a:rPr sz="1275" b="1">
                <a:solidFill>
                  <a:srgbClr val="15223A"/>
                </a:solidFill>
              </a:rPr>
              <a:t>EVENTS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70AEA-AE8E-4363-AB65-A4CA506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720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Promote participation and manage what is live.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89569-1724-455E-883F-75FF0983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A"/>
                </a:solidFill>
              </a:defRPr>
            </a:pPr>
            <a:r>
              <a:rPr sz="1275" b="1">
                <a:solidFill>
                  <a:srgbClr val="15223A"/>
                </a:solidFill>
              </a:rPr>
              <a:t>GALLERY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F7FB1-3648-4B39-8CE8-4B1920F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720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Turn chamber activity into visual proof.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C61CF-E370-42FF-AD7E-B55B583C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Newsletters and resources are uploaded by administrators and presented through the same trusted experience.</a:t>
            </a:r>
          </a:p>
        </p:txBody>
      </p:sp>
    </p:spTree>
    <p:extLst>
      <p:ext uri="{BB962C8B-B14F-4D97-AF65-F5344CB8AC3E}">
        <p14:creationId xmlns:p14="http://schemas.microsoft.com/office/powerpoint/2010/main" val="1418466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86914-75C2-486A-8094-24366645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D28C7-DEA5-480E-AD4A-90861A66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6975E-4ED6-4FB4-BF97-E5259201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5A65-69B5-44B8-AAA7-25F016D8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MEMBER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57166-3E36-45D4-A118-3C893909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Members have a workspace of their 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27469-5057-49F2-BE13-AE9E02E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5"/>
                </a:solidFill>
              </a:defRPr>
            </a:pPr>
            <a:r>
              <a:rPr sz="1350" b="0">
                <a:solidFill>
                  <a:srgbClr val="657085"/>
                </a:solidFill>
              </a:rPr>
              <a:t>Each company can keep its presence accurate and contribute content through a controlled review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3A0FA-94DA-4755-A5B4-45FEA973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52725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1800B-37D1-407D-9C5E-BA2565A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857750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28E24-A1F7-410A-B187-36CA16E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7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937A3-76D6-4B27-9819-B6A4246F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C90A7-63EC-4750-A326-5D5AB86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2510ca32c4815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00375"/>
            <a:ext cx="4857750" cy="2733675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1CEB9-5232-418F-8A26-D7578AE3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5343525" cy="3248025"/>
          </a:xfrm>
          <a:prstGeom xmlns:a="http://schemas.openxmlformats.org/drawingml/2006/main" prst="roundRect">
            <a:avLst>
              <a:gd name="adj" fmla="val 3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351E3-B832-4422-B3F6-A9C607E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86025"/>
            <a:ext cx="52482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21C22-0DB0-4B76-A997-CCD64A99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52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3F7E1-B798-4ADB-8233-FEF47CF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52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5C409-F651-43A7-8FDF-6E941BD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ffb94bafd418f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4075" y="2686050"/>
            <a:ext cx="5248275" cy="2952750"/>
          </a:xfrm>
          <a:prstGeom xmlns:a="http://schemas.openxmlformats.org/drawingml/2006/main" prst="roundRect">
            <a:avLst>
              <a:gd name="adj" fmla="val 2258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4A6B6-63D7-4B89-8177-6BCD2D2C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572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A1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DB542-27FC-4030-934C-BD9BB8FC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6265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COMPANY PROFILE   •   NEWS SUBMISSIONS   •   EVENT SUBMISSIONS   •  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9A2EE-1238-4612-BE18-73BF1332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Member-created items remain governed: draft → submit → Secretariat review → publish.</a:t>
            </a:r>
          </a:p>
        </p:txBody>
      </p:sp>
    </p:spTree>
    <p:extLst>
      <p:ext uri="{BB962C8B-B14F-4D97-AF65-F5344CB8AC3E}">
        <p14:creationId xmlns:p14="http://schemas.microsoft.com/office/powerpoint/2010/main" val="1097375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D6F58-11DB-4D4E-AD1C-8D9CE24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4B2D7-1A45-4CCD-AFDE-9561204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90B6B-75AC-43A9-91AD-D24FC738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2D0"/>
                </a:solidFill>
              </a:defRPr>
            </a:pPr>
            <a:r>
              <a:rPr sz="900" b="1">
                <a:solidFill>
                  <a:srgbClr val="B9C2D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9196-5224-4744-94FB-DD30E6ED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B35B"/>
                </a:solidFill>
              </a:defRPr>
            </a:pPr>
            <a:r>
              <a:rPr sz="975" b="1">
                <a:solidFill>
                  <a:srgbClr val="D5B35B"/>
                </a:solidFill>
              </a:rPr>
              <a:t>SECRETARIAT COMMAND CENTRE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96EFB-CF07-4FA0-A3DC-1569E99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One place to operate the entire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7F576-5278-4980-8977-2E831F93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E"/>
                </a:solidFill>
              </a:defRPr>
            </a:pPr>
            <a:r>
              <a:rPr sz="1350" b="0">
                <a:solidFill>
                  <a:srgbClr val="C7D0DE"/>
                </a:solidFill>
              </a:rPr>
              <a:t>The administration area brings approvals, publishing, uploads and member oversight into a single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0AEB0-AC47-4540-A37D-F8117129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09875"/>
            <a:ext cx="5191125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5D3E-0879-4F79-9620-5900CFEF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958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7B9AA-6D28-4E95-A2CA-380D5D3A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13D2E-460F-4A74-A2C9-787F470F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C70FF-AB3D-4BCA-B8E1-E65F5FC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0b85c91e54ebe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57525"/>
            <a:ext cx="5095875" cy="2867025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E10AA-4341-4DB6-AAD4-C2269C97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09875"/>
            <a:ext cx="5191125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CC3A5-FA99-427E-9116-C4AA7609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5095875" cy="2000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F106F-A286-4A86-951B-869AB87E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7D862-A141-42BA-9DC9-A162FC4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D7B4D-2B98-41F9-8AFE-66ED91E7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ffd5b90144d7a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057525"/>
            <a:ext cx="5095875" cy="2867025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4D8F0-C491-4517-9D91-486DD16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007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6987D-2BB1-485F-82CC-7D63F7F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OVERVIEW &amp; APPROVALS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B1BCE-C809-4C28-9662-CFB2246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0070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49BD8-19C0-46DA-BABB-F8D4F62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102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CONTENT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EE41B-7C99-4EEE-A1A1-8FC970C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1"/>
                </a:solidFill>
              </a:defRPr>
            </a:pPr>
            <a:r>
              <a:rPr sz="825" b="0">
                <a:solidFill>
                  <a:srgbClr val="B8C2D1"/>
                </a:solidFill>
              </a:rPr>
              <a:t>Designed for day-to-day Secretariat ownership—without depending on a developer for routine publishing.</a:t>
            </a:r>
          </a:p>
        </p:txBody>
      </p:sp>
    </p:spTree>
    <p:extLst>
      <p:ext uri="{BB962C8B-B14F-4D97-AF65-F5344CB8AC3E}">
        <p14:creationId xmlns:p14="http://schemas.microsoft.com/office/powerpoint/2010/main" val="1855032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69CD1-6BE9-4F1D-9E36-6D80BFF9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A95DC-70DF-44CA-A9AF-C230375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9A984-BEB4-4615-B050-DD6120C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7B56A-3A3B-4B4A-A27D-10E697E8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CONNECTED COMMUNICATIONS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4211B-3966-47E9-82F3-F7CD7A26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One publishing action activates the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D8DB4-A83B-4A00-B717-FC6B3BC5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5"/>
                </a:solidFill>
              </a:defRPr>
            </a:pPr>
            <a:r>
              <a:rPr sz="1350" b="0">
                <a:solidFill>
                  <a:srgbClr val="657085"/>
                </a:solidFill>
              </a:rPr>
              <a:t>Approved content can move from the platform to the right audiences by email—consistently and once.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A064D-FAE5-4A9C-8276-3F678E76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6193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FC4D2-326C-48EB-A416-6D6C9A7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E3D"/>
                </a:solidFill>
              </a:defRPr>
            </a:pPr>
            <a:r>
              <a:rPr sz="1875" b="1">
                <a:solidFill>
                  <a:srgbClr val="C92E3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D163E-4041-4D31-A2BF-347ABBA6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A"/>
                </a:solidFill>
              </a:defRPr>
            </a:pPr>
            <a:r>
              <a:rPr sz="1500" b="1">
                <a:solidFill>
                  <a:srgbClr val="15223A"/>
                </a:solidFill>
              </a:rPr>
              <a:t>Publish or 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B8854-C2C4-461A-AB2B-559E1CE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5"/>
                </a:solidFill>
              </a:defRPr>
            </a:pPr>
            <a:r>
              <a:rPr sz="1125" b="0">
                <a:solidFill>
                  <a:srgbClr val="657085"/>
                </a:solidFill>
              </a:rPr>
              <a:t>News, events and newsletters enter the live content stream.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63184-116C-45E2-99F9-0927FB4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52750"/>
            <a:ext cx="26193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76184-54C4-4405-AD24-D51B6CB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E3D"/>
                </a:solidFill>
              </a:defRPr>
            </a:pPr>
            <a:r>
              <a:rPr sz="1875" b="1">
                <a:solidFill>
                  <a:srgbClr val="C92E3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A596C-4946-4415-A758-E70E4243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051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A"/>
                </a:solidFill>
              </a:defRPr>
            </a:pPr>
            <a:r>
              <a:rPr sz="1500" b="1">
                <a:solidFill>
                  <a:srgbClr val="15223A"/>
                </a:solidFill>
              </a:rPr>
              <a:t>Build the audience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FAA19-81D3-4468-87F9-C9856FC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52825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5"/>
                </a:solidFill>
              </a:defRPr>
            </a:pPr>
            <a:r>
              <a:rPr sz="1125" b="0">
                <a:solidFill>
                  <a:srgbClr val="657085"/>
                </a:solidFill>
              </a:rPr>
              <a:t>Approved member-company addresses plus active subscribers are deduplicated.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7F0E7-3102-4F37-AD6F-6B7915EB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6193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F2D7E-5FC1-4E0E-B9CB-7EF29592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2E3D"/>
                </a:solidFill>
              </a:defRPr>
            </a:pPr>
            <a:r>
              <a:rPr sz="1875" b="1">
                <a:solidFill>
                  <a:srgbClr val="C92E3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85E0D-7D70-495B-A1C6-E9A6CB84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A"/>
                </a:solidFill>
              </a:defRPr>
            </a:pPr>
            <a:r>
              <a:rPr sz="1500" b="1">
                <a:solidFill>
                  <a:srgbClr val="15223A"/>
                </a:solidFill>
              </a:rPr>
              <a:t>Deliver by 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F4BC5-A2BC-414A-A98A-CCD19F0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52825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5"/>
                </a:solidFill>
              </a:defRPr>
            </a:pPr>
            <a:r>
              <a:rPr sz="1125" b="0">
                <a:solidFill>
                  <a:srgbClr val="657085"/>
                </a:solidFill>
              </a:rPr>
              <a:t>A single queued notification links recipients back to the website.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2B745-F8C7-4EBE-8F0D-D8A63242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19751-4FC4-4E90-99C2-7C27C0EA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4330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37147-CFD5-42BF-B638-4005D087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861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2E3D"/>
                </a:solidFill>
              </a:defRPr>
            </a:pPr>
            <a:r>
              <a:rPr sz="2400" b="1">
                <a:solidFill>
                  <a:srgbClr val="C92E3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ADBA3-76BD-40DB-85A3-06E2855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861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2E3D"/>
                </a:solidFill>
              </a:defRPr>
            </a:pPr>
            <a:r>
              <a:rPr sz="2400" b="1">
                <a:solidFill>
                  <a:srgbClr val="C92E3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EBB10-5364-4B84-A69A-BB24ABA8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8232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A1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AEA10-4AA2-4D8D-A273-2F94E106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B35B"/>
                </a:solidFill>
              </a:defRPr>
            </a:pPr>
            <a:r>
              <a:rPr sz="1050" b="1">
                <a:solidFill>
                  <a:srgbClr val="D5B35B"/>
                </a:solidFill>
              </a:rPr>
              <a:t>EMAIL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7B07E7-9270-4276-B92B-BBF9C26D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Clear preferences, safe unsubscribe handling and no SMS claims in the dashboard.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BD289-CCDA-42C7-BCCF-A737D67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The platform keeps the website as the source of truth while email brings audiences back to it.</a:t>
            </a:r>
          </a:p>
        </p:txBody>
      </p:sp>
    </p:spTree>
    <p:extLst>
      <p:ext uri="{BB962C8B-B14F-4D97-AF65-F5344CB8AC3E}">
        <p14:creationId xmlns:p14="http://schemas.microsoft.com/office/powerpoint/2010/main" val="1525030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747893-09F7-4835-91E9-C11FCBE5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09D63-021D-451E-B085-1EBF6229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5B652-993E-4EC7-A15E-340E34A5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2DF0E-8A6C-468E-AA2E-D969762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TRUST, VISIBILITY AND RESILIENCE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FB62E-EBC4-4207-92C8-1C39888B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Built to be discoverable—and safe to operate.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DAEF6-CCE1-4559-AA5B-EA06795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143250" cy="1466850"/>
          </a:xfrm>
          <a:prstGeom xmlns:a="http://schemas.openxmlformats.org/drawingml/2006/main" prst="roundRect">
            <a:avLst>
              <a:gd name="adj" fmla="val 844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704B5-48AD-4E86-9398-43401BC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DD56-26D8-4075-817C-2086174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A"/>
                </a:solidFill>
              </a:defRPr>
            </a:pPr>
            <a:r>
              <a:rPr sz="1125" b="1">
                <a:solidFill>
                  <a:srgbClr val="15223A"/>
                </a:solidFill>
              </a:rPr>
              <a:t>SECURE IDENTIFIERS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E633B-1BA5-4A43-96F5-F827CF7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2628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UUID-backed records protect internal identity; public content uses readable slugs.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3DE39-4C30-400F-BA17-5575B80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3143250" cy="1466850"/>
          </a:xfrm>
          <a:prstGeom xmlns:a="http://schemas.openxmlformats.org/drawingml/2006/main" prst="roundRect">
            <a:avLst>
              <a:gd name="adj" fmla="val 844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4D20D-7EA4-412D-B2E5-4C2FBE1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795C4-0CD0-4C11-84F5-8A412CA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A"/>
                </a:solidFill>
              </a:defRPr>
            </a:pPr>
            <a:r>
              <a:rPr sz="1125" b="1">
                <a:solidFill>
                  <a:srgbClr val="15223A"/>
                </a:solidFill>
              </a:rPr>
              <a:t>SAFER SUBMISSIONS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3720D-4C3A-4789-A498-99964ED3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71825"/>
            <a:ext cx="2628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Validation, throttling and anti-spam controls protect forms and review queues.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628D4-C644-4842-A49C-16A5886B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143250" cy="1466850"/>
          </a:xfrm>
          <a:prstGeom xmlns:a="http://schemas.openxmlformats.org/drawingml/2006/main" prst="roundRect">
            <a:avLst>
              <a:gd name="adj" fmla="val 844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DC5E7-9E6C-45D2-A73E-31CC5FF3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D580B-3852-40B1-A7D8-0987F68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A"/>
                </a:solidFill>
              </a:defRPr>
            </a:pPr>
            <a:r>
              <a:rPr sz="1125" b="1">
                <a:solidFill>
                  <a:srgbClr val="15223A"/>
                </a:solidFill>
              </a:rPr>
              <a:t>CONTROLLED UPLOADS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D3144-3E3D-4BB4-BE85-E6667601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2628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Images and documents are validated, normalized and served from the public media structure.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7F83E-1E9C-40FC-B916-93F4B2AF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1466850"/>
          </a:xfrm>
          <a:prstGeom xmlns:a="http://schemas.openxmlformats.org/drawingml/2006/main" prst="roundRect">
            <a:avLst>
              <a:gd name="adj" fmla="val 844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89BEE-CFA8-42E7-8B99-EFDC234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94B5D-F6D3-4972-8362-9F579E42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A"/>
                </a:solidFill>
              </a:defRPr>
            </a:pPr>
            <a:r>
              <a:rPr sz="1125" b="1">
                <a:solidFill>
                  <a:srgbClr val="15223A"/>
                </a:solidFill>
              </a:rPr>
              <a:t>ACCOUNT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F9606-990D-406A-AB8B-E578B3C7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2628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Forgot-password responses preserve privacy while serving legitimate users properly.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BEBF7-0531-44D7-9C87-5BB83037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3143250" cy="1466850"/>
          </a:xfrm>
          <a:prstGeom xmlns:a="http://schemas.openxmlformats.org/drawingml/2006/main" prst="roundRect">
            <a:avLst>
              <a:gd name="adj" fmla="val 844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5AC2D-0810-490D-9971-107934A2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31ED3-858A-4D3B-B368-1E4DF5C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A"/>
                </a:solidFill>
              </a:defRPr>
            </a:pPr>
            <a:r>
              <a:rPr sz="1125" b="1">
                <a:solidFill>
                  <a:srgbClr val="15223A"/>
                </a:solidFill>
              </a:rPr>
              <a:t>SEARCH &amp; SHARING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C43F5-2A52-4F24-A4D4-DA518BB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9675"/>
            <a:ext cx="2628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Canonical metadata, page descriptions, Open Graph images, favicon, sitemap and structured data.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453C5-9724-4F0D-94BB-49CF2D59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143250" cy="1466850"/>
          </a:xfrm>
          <a:prstGeom xmlns:a="http://schemas.openxmlformats.org/drawingml/2006/main" prst="roundRect">
            <a:avLst>
              <a:gd name="adj" fmla="val 844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4D0CA-0558-45B3-8D3A-4F033894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84622-EBF7-4EE8-BDEE-1D40793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67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A"/>
                </a:solidFill>
              </a:defRPr>
            </a:pPr>
            <a:r>
              <a:rPr sz="1125" b="1">
                <a:solidFill>
                  <a:srgbClr val="15223A"/>
                </a:solidFill>
              </a:rPr>
              <a:t>PUBLISHING HYGIENE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D2A6A-73C6-4023-8AED-9D1A828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9675"/>
            <a:ext cx="2628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5"/>
                </a:solidFill>
              </a:defRPr>
            </a:pPr>
            <a:r>
              <a:rPr sz="1050" b="0">
                <a:solidFill>
                  <a:srgbClr val="657085"/>
                </a:solidFill>
              </a:rPr>
              <a:t>Sanitized rich text, authorization checks and approval gates reduce content and access risk.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E075C-1051-4D3A-AF40-DF9DE856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Security is treated as an operating discipline—not a one-time feature.</a:t>
            </a:r>
          </a:p>
        </p:txBody>
      </p:sp>
    </p:spTree>
    <p:extLst>
      <p:ext uri="{BB962C8B-B14F-4D97-AF65-F5344CB8AC3E}">
        <p14:creationId xmlns:p14="http://schemas.microsoft.com/office/powerpoint/2010/main" val="31380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B1D18-3138-4948-999F-375FED67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1830"/>
                </a:solidFill>
              </a:defRPr>
            </a:pPr>
            <a:r>
              <a:rPr sz="900" b="1">
                <a:solidFill>
                  <a:srgbClr val="0A1830"/>
                </a:solidFill>
              </a:rPr>
              <a:t>AMCHAM TANZANIA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FCC17-6ACA-4469-8BA8-412A4266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B012B-CC8B-4F10-A421-A6AE9305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5"/>
                </a:solidFill>
              </a:defRPr>
            </a:pPr>
            <a:r>
              <a:rPr sz="900" b="1">
                <a:solidFill>
                  <a:srgbClr val="65708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98EF1-06A3-4A07-8A25-7D385235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E3D"/>
                </a:solidFill>
              </a:defRPr>
            </a:pPr>
            <a:r>
              <a:rPr sz="975" b="1">
                <a:solidFill>
                  <a:srgbClr val="C92E3D"/>
                </a:solidFill>
              </a:rPr>
              <a:t>COMMERCIAL INVESTMENT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C8CB-B968-4525-A68B-CBA9A337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3A"/>
                </a:solidFill>
              </a:defRPr>
            </a:pPr>
            <a:r>
              <a:rPr sz="3150" b="1">
                <a:solidFill>
                  <a:srgbClr val="15223A"/>
                </a:solidFill>
              </a:rPr>
              <a:t>A complete platform for TZS 4,000,000.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75D2D-EFE4-4544-A634-86BE40C3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5"/>
                </a:solidFill>
              </a:defRPr>
            </a:pPr>
            <a:r>
              <a:rPr sz="1350" b="0">
                <a:solidFill>
                  <a:srgbClr val="657085"/>
                </a:solidFill>
              </a:rPr>
              <a:t>The investment covers the website implementation demonstrated throughout this proposal.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54A84-2EED-4DA9-8239-2DEC4078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6724650" cy="2390775"/>
          </a:xfrm>
          <a:prstGeom xmlns:a="http://schemas.openxmlformats.org/drawingml/2006/main" prst="roundRect">
            <a:avLst>
              <a:gd name="adj" fmla="val 6375"/>
            </a:avLst>
          </a:prstGeom>
          <a:solidFill xmlns:a="http://schemas.openxmlformats.org/drawingml/2006/main">
            <a:srgbClr val="0A1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5D7BC-C769-4F0D-9640-D182068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B35B"/>
                </a:solidFill>
              </a:defRPr>
            </a:pPr>
            <a:r>
              <a:rPr sz="1125" b="1">
                <a:solidFill>
                  <a:srgbClr val="D5B35B"/>
                </a:solidFill>
              </a:rPr>
              <a:t>WEBSITE DEVELOPMENT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6F372-FC40-435C-A910-BA718A7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TZS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653A3-9670-4EEB-B3F1-97229C50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76625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4,000,000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73438-9BBB-4ECF-B376-9759743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1DF"/>
                </a:solidFill>
              </a:defRPr>
            </a:pPr>
            <a:r>
              <a:rPr sz="1350" b="0">
                <a:solidFill>
                  <a:srgbClr val="C8D1DF"/>
                </a:solidFill>
              </a:rPr>
              <a:t>One-time implementation fee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E1F11-90E4-43DB-95C2-136CC58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857625" cy="2390775"/>
          </a:xfrm>
          <a:prstGeom xmlns:a="http://schemas.openxmlformats.org/drawingml/2006/main" prst="roundRect">
            <a:avLst>
              <a:gd name="adj" fmla="val 6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692D9-F87F-45DD-BF07-AFB5656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95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2E3D"/>
                </a:solidFill>
              </a:defRPr>
            </a:pPr>
            <a:r>
              <a:rPr sz="1125" b="1">
                <a:solidFill>
                  <a:srgbClr val="C92E3D"/>
                </a:solidFill>
              </a:rPr>
              <a:t>ONGOING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64C98-99E6-4D16-8392-406AC648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A"/>
                </a:solidFill>
              </a:defRPr>
            </a:pPr>
            <a:r>
              <a:rPr sz="2850" b="1">
                <a:solidFill>
                  <a:srgbClr val="15223A"/>
                </a:solidFill>
              </a:rPr>
              <a:t>TZS 50,000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8025C-080D-4BDA-8D84-DF16235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4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085"/>
                </a:solidFill>
              </a:defRPr>
            </a:pPr>
            <a:r>
              <a:rPr sz="1275" b="1">
                <a:solidFill>
                  <a:srgbClr val="657085"/>
                </a:solidFill>
              </a:rPr>
              <a:t>per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ED31C-A634-4A1F-9F3A-BDAF073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624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5"/>
                </a:solidFill>
              </a:defRPr>
            </a:pPr>
            <a:r>
              <a:rPr sz="1200" b="0">
                <a:solidFill>
                  <a:srgbClr val="657085"/>
                </a:solidFill>
              </a:rPr>
              <a:t>Continued technical maintenance after hosting.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50020-1678-4B7D-8CAE-D0925EC5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8232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9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ACD6A-E6FB-40EC-990C-01DF3400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601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APPROVAL UNLOCKS HOSTING AND GO-LIVE PREPARATION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8C930-2FDE-4474-A991-0CEB6F3D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85"/>
                </a:solidFill>
              </a:defRPr>
            </a:pPr>
            <a:r>
              <a:rPr sz="825" b="0">
                <a:solidFill>
                  <a:srgbClr val="657085"/>
                </a:solidFill>
              </a:rPr>
              <a:t>Commercial proposal: TZS 4,000,000 implementation + TZS 50,000 monthly maintenance.</a:t>
            </a:r>
          </a:p>
        </p:txBody>
      </p:sp>
    </p:spTree>
    <p:extLst>
      <p:ext uri="{BB962C8B-B14F-4D97-AF65-F5344CB8AC3E}">
        <p14:creationId xmlns:p14="http://schemas.microsoft.com/office/powerpoint/2010/main" val="1036869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973a242594a9c"/>
          <a:srcRect xmlns:a="http://schemas.openxmlformats.org/drawingml/2006/main" l="27422" t="0" r="274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0"/>
            <a:ext cx="5505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2E615-B42B-450A-95BE-67E7D7E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6d4cb826f4d9d"/>
          <a:stretch xmlns:a="http://schemas.openxmlformats.org/drawingml/2006/main"/>
        </p:blipFill>
        <p:spPr>
          <a:xfrm xmlns:a="http://schemas.openxmlformats.org/drawingml/2006/main">
            <a:off x="1209675" y="42862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20C0-4A27-4047-916E-C2BEDD3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B35B"/>
                </a:solidFill>
              </a:defRPr>
            </a:pPr>
            <a:r>
              <a:rPr sz="975" b="1">
                <a:solidFill>
                  <a:srgbClr val="D5B35B"/>
                </a:solidFill>
              </a:rPr>
              <a:t>READY FOR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977AC-AFC5-4678-8AF3-0A2C5E81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build is ready. Approval brings it online.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2123B-71FA-42D7-94AF-DDD944F9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D7E3"/>
                </a:solidFill>
              </a:defRPr>
            </a:pPr>
            <a:r>
              <a:rPr sz="1350" b="0">
                <a:solidFill>
                  <a:srgbClr val="CFD7E3"/>
                </a:solidFill>
              </a:rPr>
              <a:t>The public experience, member workspace and Secretariat tools are complete in working form. Hosting begins once the proposal is approved.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EE4F6-6EF6-4C86-98D2-78509B3E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986EC-F125-44EC-94CA-7B94250F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B35B"/>
                </a:solidFill>
              </a:defRPr>
            </a:pPr>
            <a:r>
              <a:rPr sz="975" b="1">
                <a:solidFill>
                  <a:srgbClr val="D5B35B"/>
                </a:solidFill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1CEBA-0C3A-4399-A876-ECBE3EF2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14900"/>
            <a:ext cx="423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Approval  •  Hosting configuration  •  Content sign-off  •  Go-live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33EC2-282E-49D8-B4DA-CBA90F4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DB8C8"/>
                </a:solidFill>
              </a:defRPr>
            </a:pPr>
            <a:r>
              <a:rPr sz="975" b="1">
                <a:solidFill>
                  <a:srgbClr val="ADB8C8"/>
                </a:solidFill>
              </a:rPr>
              <a:t>Developed by NextByte iCT Solutions  •  nextbyte.co.tz</a:t>
            </a:r>
          </a:p>
        </p:txBody>
      </p:sp>
    </p:spTree>
    <p:extLst>
      <p:ext uri="{BB962C8B-B14F-4D97-AF65-F5344CB8AC3E}">
        <p14:creationId xmlns:p14="http://schemas.microsoft.com/office/powerpoint/2010/main" val="1167635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2026-07-19T13:46:03.9840000Z</dcterms:created>
  <dcterms:modified xsi:type="dcterms:W3CDTF">2026-07-19T13:46:03.9840000Z</dcterms:modified>
</coreProperties>
</file>